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2" r:id="rId6"/>
    <p:sldId id="265" r:id="rId7"/>
    <p:sldId id="266" r:id="rId8"/>
    <p:sldId id="267" r:id="rId9"/>
    <p:sldId id="268" r:id="rId10"/>
    <p:sldId id="269" r:id="rId11"/>
    <p:sldId id="285" r:id="rId12"/>
    <p:sldId id="279" r:id="rId13"/>
    <p:sldId id="271" r:id="rId14"/>
    <p:sldId id="280" r:id="rId15"/>
    <p:sldId id="292" r:id="rId16"/>
    <p:sldId id="293" r:id="rId17"/>
    <p:sldId id="281" r:id="rId18"/>
    <p:sldId id="287" r:id="rId19"/>
    <p:sldId id="288" r:id="rId20"/>
    <p:sldId id="283" r:id="rId21"/>
    <p:sldId id="284" r:id="rId2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F/d2adbArIicjAmnedt1qhQMV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07B212-973E-476A-A7B7-2E18D0955D34}">
  <a:tblStyle styleId="{7E07B212-973E-476A-A7B7-2E18D0955D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5fb89fc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f5fb89fc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2f5fb89fcf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5fb89fcf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f5fb89fcf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f5fb89fcf9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49516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7043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3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3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802700" y="8900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160" b="1"/>
              <a:t>Gamified Learning : Learn With Engagement</a:t>
            </a:r>
            <a:endParaRPr sz="3160" b="1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083500" y="2033000"/>
            <a:ext cx="7515600" cy="16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0" lvl="0" indent="4572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r>
              <a:rPr lang="en-US" sz="2240">
                <a:solidFill>
                  <a:schemeClr val="dk1"/>
                </a:solidFill>
              </a:rPr>
              <a:t>Jayaram A          ( </a:t>
            </a:r>
            <a:r>
              <a:rPr lang="en-US" sz="2240" b="1">
                <a:solidFill>
                  <a:schemeClr val="dk1"/>
                </a:solidFill>
              </a:rPr>
              <a:t>2021115043</a:t>
            </a:r>
            <a:r>
              <a:rPr lang="en-US" sz="2240">
                <a:solidFill>
                  <a:schemeClr val="dk1"/>
                </a:solidFill>
              </a:rPr>
              <a:t>)</a:t>
            </a:r>
            <a:endParaRPr sz="2240">
              <a:solidFill>
                <a:schemeClr val="dk1"/>
              </a:solidFill>
            </a:endParaRPr>
          </a:p>
          <a:p>
            <a:pPr marL="1371600" lvl="0" indent="4572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r>
              <a:rPr lang="en-US" sz="2240">
                <a:solidFill>
                  <a:schemeClr val="dk1"/>
                </a:solidFill>
              </a:rPr>
              <a:t>V Priyadarshini  (</a:t>
            </a:r>
            <a:r>
              <a:rPr lang="en-US" sz="2240" b="1">
                <a:solidFill>
                  <a:schemeClr val="dk1"/>
                </a:solidFill>
              </a:rPr>
              <a:t>2021115078</a:t>
            </a:r>
            <a:r>
              <a:rPr lang="en-US" sz="2240">
                <a:solidFill>
                  <a:schemeClr val="dk1"/>
                </a:solidFill>
              </a:rPr>
              <a:t>)</a:t>
            </a:r>
            <a:endParaRPr sz="2240">
              <a:solidFill>
                <a:schemeClr val="dk1"/>
              </a:solidFill>
            </a:endParaRPr>
          </a:p>
          <a:p>
            <a:pPr marL="1371600" lvl="0" indent="4572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r>
              <a:rPr lang="en-US" sz="2240">
                <a:solidFill>
                  <a:schemeClr val="dk1"/>
                </a:solidFill>
              </a:rPr>
              <a:t>Yuthikshaa M    (</a:t>
            </a:r>
            <a:r>
              <a:rPr lang="en-US" sz="2240" b="1">
                <a:solidFill>
                  <a:schemeClr val="dk1"/>
                </a:solidFill>
              </a:rPr>
              <a:t>2021115123</a:t>
            </a:r>
            <a:r>
              <a:rPr lang="en-US" sz="2240">
                <a:solidFill>
                  <a:schemeClr val="dk1"/>
                </a:solidFill>
              </a:rPr>
              <a:t>)</a:t>
            </a:r>
            <a:endParaRPr sz="2240">
              <a:solidFill>
                <a:schemeClr val="dk1"/>
              </a:solidFill>
            </a:endParaRPr>
          </a:p>
          <a:p>
            <a:pPr marL="1371600" lvl="0" indent="4572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</a:pPr>
            <a:r>
              <a:rPr lang="en-US" sz="2240">
                <a:solidFill>
                  <a:schemeClr val="dk1"/>
                </a:solidFill>
              </a:rPr>
              <a:t>Yuvaraj T            (</a:t>
            </a:r>
            <a:r>
              <a:rPr lang="en-US" sz="2240" b="1">
                <a:solidFill>
                  <a:schemeClr val="dk1"/>
                </a:solidFill>
              </a:rPr>
              <a:t>2021115124</a:t>
            </a:r>
            <a:r>
              <a:rPr lang="en-US" sz="2240">
                <a:solidFill>
                  <a:schemeClr val="dk1"/>
                </a:solidFill>
              </a:rPr>
              <a:t>)</a:t>
            </a:r>
            <a:endParaRPr sz="224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720"/>
              <a:buNone/>
            </a:pPr>
            <a:endParaRPr sz="2920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009900" y="3947775"/>
            <a:ext cx="3124200" cy="1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 sz="18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Bama</a:t>
            </a: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Srinivasan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Associate Professor</a:t>
            </a:r>
            <a:endParaRPr sz="18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 OF IST, </a:t>
            </a:r>
            <a:endParaRPr sz="16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CEG CAMPUS.                                                         </a:t>
            </a:r>
            <a:endParaRPr sz="1600"/>
          </a:p>
        </p:txBody>
      </p:sp>
      <p:sp>
        <p:nvSpPr>
          <p:cNvPr id="92" name="Google Shape;92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  <p:pic>
        <p:nvPicPr>
          <p:cNvPr id="94" name="Google Shape;9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4289" y="110650"/>
            <a:ext cx="1204436" cy="106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Introduction</a:t>
            </a:r>
            <a:endParaRPr dirty="0"/>
          </a:p>
        </p:txBody>
      </p:sp>
      <p:sp>
        <p:nvSpPr>
          <p:cNvPr id="100" name="Google Shape;100;p2"/>
          <p:cNvSpPr txBox="1">
            <a:spLocks noGrp="1"/>
          </p:cNvSpPr>
          <p:nvPr>
            <p:ph type="body" idx="1"/>
          </p:nvPr>
        </p:nvSpPr>
        <p:spPr>
          <a:xfrm>
            <a:off x="228600" y="1676400"/>
            <a:ext cx="8458200" cy="480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5925" algn="just">
              <a:spcBef>
                <a:spcPts val="0"/>
              </a:spcBef>
              <a:buSzPts val="2450"/>
            </a:pPr>
            <a:r>
              <a:rPr lang="en-US" sz="2400" dirty="0"/>
              <a:t>Our gamified learning project blends storytelling-based education with interactive game mechanics to create an engaging learning experience for students. </a:t>
            </a:r>
          </a:p>
          <a:p>
            <a:pPr marL="415925" algn="just">
              <a:spcBef>
                <a:spcPts val="0"/>
              </a:spcBef>
              <a:buSzPts val="2450"/>
            </a:pPr>
            <a:r>
              <a:rPr lang="en-US" sz="2400" dirty="0"/>
              <a:t>So far, we have completed 30-40% of the project, focusing on key features that integrate learning and evaluation.</a:t>
            </a:r>
          </a:p>
          <a:p>
            <a:pPr marL="415925" algn="just">
              <a:spcBef>
                <a:spcPts val="0"/>
              </a:spcBef>
              <a:buSzPts val="2450"/>
            </a:pPr>
            <a:r>
              <a:rPr lang="en-US" sz="2400" dirty="0"/>
              <a:t>We used advanced techniques like multi-linear models and regression to predict the difficulty level of students, ensuring a personalized learning path.</a:t>
            </a:r>
          </a:p>
          <a:p>
            <a:pPr marL="415925" algn="just">
              <a:spcBef>
                <a:spcPts val="0"/>
              </a:spcBef>
              <a:buSzPts val="2450"/>
            </a:pPr>
            <a:r>
              <a:rPr lang="en-US" sz="2400" dirty="0"/>
              <a:t>The learning part is centered around a Snake game, where students progress by answering questions. </a:t>
            </a:r>
          </a:p>
          <a:p>
            <a:pPr marL="415925" algn="just">
              <a:spcBef>
                <a:spcPts val="0"/>
              </a:spcBef>
              <a:buSzPts val="2450"/>
            </a:pPr>
            <a:r>
              <a:rPr lang="en-US" sz="2400" dirty="0"/>
              <a:t>This approach is designed to make learning interactive and adaptive to each student’s pace.</a:t>
            </a:r>
            <a:endParaRPr sz="2400"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Introduction</a:t>
            </a:r>
            <a:endParaRPr dirty="0"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5925" algn="just">
              <a:spcBef>
                <a:spcPts val="0"/>
              </a:spcBef>
              <a:buSzPts val="2450"/>
            </a:pPr>
            <a:r>
              <a:rPr lang="en-US" sz="2500" dirty="0"/>
              <a:t>In the learning part, we included storytelling combined with interleaved questions that drive the characters towards their goals.</a:t>
            </a:r>
          </a:p>
          <a:p>
            <a:pPr marL="415925" algn="just">
              <a:spcBef>
                <a:spcPts val="0"/>
              </a:spcBef>
              <a:buSzPts val="2450"/>
            </a:pPr>
            <a:r>
              <a:rPr lang="en-US" sz="2500" dirty="0"/>
              <a:t> These questions are accompanied by step-by-step explanations guided by JavaScript animations.</a:t>
            </a:r>
          </a:p>
          <a:p>
            <a:pPr marL="415925" algn="just">
              <a:spcBef>
                <a:spcPts val="0"/>
              </a:spcBef>
              <a:buSzPts val="2450"/>
            </a:pPr>
            <a:r>
              <a:rPr lang="en-US" sz="2500" dirty="0"/>
              <a:t>The evaluation part is also integrated into the Snake game, where students answer questions every time they catch food. </a:t>
            </a:r>
          </a:p>
          <a:p>
            <a:pPr marL="415925" algn="just">
              <a:spcBef>
                <a:spcPts val="0"/>
              </a:spcBef>
              <a:buSzPts val="2450"/>
            </a:pPr>
            <a:r>
              <a:rPr lang="en-US" sz="2500" dirty="0"/>
              <a:t>This dynamic interaction ensures continuous assessment and personalized feedback for improved learning outcomes.</a:t>
            </a:r>
            <a:endParaRPr sz="2500" dirty="0"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Problem Statement</a:t>
            </a:r>
            <a:endParaRPr/>
          </a:p>
        </p:txBody>
      </p:sp>
      <p:sp>
        <p:nvSpPr>
          <p:cNvPr id="116" name="Google Shape;116;p4"/>
          <p:cNvSpPr txBox="1">
            <a:spLocks noGrp="1"/>
          </p:cNvSpPr>
          <p:nvPr>
            <p:ph type="body" idx="1"/>
          </p:nvPr>
        </p:nvSpPr>
        <p:spPr>
          <a:xfrm>
            <a:off x="457200" y="1611087"/>
            <a:ext cx="8229600" cy="463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algn="just">
              <a:spcBef>
                <a:spcPts val="1000"/>
              </a:spcBef>
              <a:buSzPct val="73000"/>
            </a:pPr>
            <a:r>
              <a:rPr lang="en-US" sz="2500" dirty="0">
                <a:solidFill>
                  <a:schemeClr val="dk1"/>
                </a:solidFill>
              </a:rPr>
              <a:t>The core problem is to make learning engaging and adaptive, allowing students to learn at their own pace while maintaining educational rigor.</a:t>
            </a:r>
          </a:p>
          <a:p>
            <a:pPr marL="571500" algn="just">
              <a:spcBef>
                <a:spcPts val="1000"/>
              </a:spcBef>
              <a:buSzPct val="73000"/>
            </a:pPr>
            <a:r>
              <a:rPr lang="en-US" sz="2500" dirty="0">
                <a:solidFill>
                  <a:schemeClr val="dk1"/>
                </a:solidFill>
              </a:rPr>
              <a:t> We addressed this by synthesizing a dataset based on the learning difficulties of 5th-grade students.</a:t>
            </a:r>
          </a:p>
          <a:p>
            <a:pPr marL="571500" algn="just">
              <a:spcBef>
                <a:spcPts val="1000"/>
              </a:spcBef>
              <a:buSzPts val="1514"/>
            </a:pPr>
            <a:r>
              <a:rPr lang="en-US" sz="2500" dirty="0">
                <a:solidFill>
                  <a:schemeClr val="dk1"/>
                </a:solidFill>
              </a:rPr>
              <a:t>The evaluation dynamically adjusts itself based on the user's performance using a multi-linear model and regression techniques. </a:t>
            </a:r>
          </a:p>
          <a:p>
            <a:pPr marL="571500" algn="just">
              <a:spcBef>
                <a:spcPts val="1000"/>
              </a:spcBef>
              <a:buSzPts val="1514"/>
            </a:pPr>
            <a:r>
              <a:rPr lang="en-US" sz="2500" dirty="0">
                <a:solidFill>
                  <a:schemeClr val="dk1"/>
                </a:solidFill>
              </a:rPr>
              <a:t>Additionally, reinforcement learning is used to generate stone configurations that keep the experience fun and challenging.</a:t>
            </a:r>
            <a:endParaRPr sz="2500" dirty="0">
              <a:solidFill>
                <a:schemeClr val="dk1"/>
              </a:solidFill>
            </a:endParaRPr>
          </a:p>
        </p:txBody>
      </p:sp>
      <p:sp>
        <p:nvSpPr>
          <p:cNvPr id="117" name="Google Shape;117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18" name="Google Shape;118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572350" y="276600"/>
            <a:ext cx="80859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b="1"/>
              <a:t>Literature Survey</a:t>
            </a:r>
            <a:endParaRPr b="1"/>
          </a:p>
        </p:txBody>
      </p:sp>
      <p:graphicFrame>
        <p:nvGraphicFramePr>
          <p:cNvPr id="142" name="Google Shape;142;p7"/>
          <p:cNvGraphicFramePr/>
          <p:nvPr>
            <p:extLst>
              <p:ext uri="{D42A27DB-BD31-4B8C-83A1-F6EECF244321}">
                <p14:modId xmlns:p14="http://schemas.microsoft.com/office/powerpoint/2010/main" val="89748828"/>
              </p:ext>
            </p:extLst>
          </p:nvPr>
        </p:nvGraphicFramePr>
        <p:xfrm>
          <a:off x="671625" y="1353900"/>
          <a:ext cx="7986600" cy="4162470"/>
        </p:xfrm>
        <a:graphic>
          <a:graphicData uri="http://schemas.openxmlformats.org/drawingml/2006/table">
            <a:tbl>
              <a:tblPr>
                <a:noFill/>
                <a:tableStyleId>{7E07B212-973E-476A-A7B7-2E18D0955D34}</a:tableStyleId>
              </a:tblPr>
              <a:tblGrid>
                <a:gridCol w="44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7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Sno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Title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Journal/Conference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Methodologies/</a:t>
                      </a:r>
                      <a:endParaRPr sz="1100" b="1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/>
                        <a:t>A</a:t>
                      </a:r>
                      <a:r>
                        <a:rPr lang="en-US" sz="1100" b="1" u="none" strike="noStrike" cap="none"/>
                        <a:t>pproaches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Pros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Cons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7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[1]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Gamification of Education: A Review of Literature</a:t>
                      </a:r>
                      <a:endParaRPr dirty="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dirty="0"/>
                        <a:t>International Conference on HCL in Business,2022</a:t>
                      </a:r>
                      <a:endParaRPr sz="1100" b="0" u="none" strike="noStrike" cap="none" dirty="0"/>
                    </a:p>
                  </a:txBody>
                  <a:tcPr marL="68575" marR="68575" marT="68575" marB="685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include game design elements that are used in education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u="none" strike="noStrike" cap="none"/>
                        <a:t>Bringing in student engagement</a:t>
                      </a:r>
                      <a:endParaRPr sz="1100" b="0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u="none" strike="noStrike" cap="none"/>
                        <a:t>More options available which leads to a confusion what to choose</a:t>
                      </a:r>
                      <a:endParaRPr sz="1100" b="0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[2]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Personality Effects on Students' Intrinsic Motivation in a Gamified Learning Environment</a:t>
                      </a:r>
                      <a:endParaRPr dirty="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International Conference on Advanced Learning Technologies (ICALT),2021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gamified Moodle environment for a semester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Self-determined environments allow students to learn at their own pace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Setting up and managing a gamified environment can be resource-intensive.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[3]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Prediction of Student’s Performance With Learning Coefficients Using Regression Based Machine Learning Models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/>
                        <a:t>2021 47th Hawaii International Conference on System Sciences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learning coefficients from adaptive assessments to predict student performance</a:t>
                      </a:r>
                      <a:endParaRPr sz="110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Learning coefficients enhance the accuracy of performance</a:t>
                      </a:r>
                      <a:endParaRPr sz="110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Calculating and integrating learning coefficients adds complexity to the predictive models and data analysis.</a:t>
                      </a:r>
                      <a:endParaRPr sz="1100" dirty="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3" name="Google Shape;14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4" name="Google Shape;144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>
            <a:spLocks noGrp="1"/>
          </p:cNvSpPr>
          <p:nvPr>
            <p:ph type="title"/>
          </p:nvPr>
        </p:nvSpPr>
        <p:spPr>
          <a:xfrm>
            <a:off x="581150" y="274650"/>
            <a:ext cx="8105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b="1"/>
              <a:t>Literature Survey</a:t>
            </a:r>
            <a:endParaRPr b="1"/>
          </a:p>
        </p:txBody>
      </p:sp>
      <p:graphicFrame>
        <p:nvGraphicFramePr>
          <p:cNvPr id="166" name="Google Shape;166;p10"/>
          <p:cNvGraphicFramePr/>
          <p:nvPr>
            <p:extLst>
              <p:ext uri="{D42A27DB-BD31-4B8C-83A1-F6EECF244321}">
                <p14:modId xmlns:p14="http://schemas.microsoft.com/office/powerpoint/2010/main" val="1680034973"/>
              </p:ext>
            </p:extLst>
          </p:nvPr>
        </p:nvGraphicFramePr>
        <p:xfrm>
          <a:off x="581275" y="1417650"/>
          <a:ext cx="8105525" cy="4527200"/>
        </p:xfrm>
        <a:graphic>
          <a:graphicData uri="http://schemas.openxmlformats.org/drawingml/2006/table">
            <a:tbl>
              <a:tblPr>
                <a:noFill/>
                <a:tableStyleId>{7E07B212-973E-476A-A7B7-2E18D0955D34}</a:tableStyleId>
              </a:tblPr>
              <a:tblGrid>
                <a:gridCol w="45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6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Sno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Title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Journal/Conference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Methodologies/</a:t>
                      </a:r>
                      <a:endParaRPr sz="1100" b="1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/>
                        <a:t>A</a:t>
                      </a:r>
                      <a:r>
                        <a:rPr lang="en-US" sz="1100" b="1" u="none" strike="noStrike" cap="none"/>
                        <a:t>pproaches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Pros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Cons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8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/>
                        <a:t>[4]</a:t>
                      </a:r>
                      <a:endParaRPr sz="1100" b="1" u="none" strike="noStrike" cap="none" dirty="0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Promoting Student Thinking and Engagement Through Question-Based and Gamified Learning </a:t>
                      </a:r>
                      <a:endParaRPr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2022 IEEE 14th International Conference on HNICEM</a:t>
                      </a:r>
                      <a:endParaRPr sz="1100" b="0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Gamified activities like Jeopardy were used.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Boosts participation and enthusiasm significantly.</a:t>
                      </a:r>
                      <a:endParaRPr sz="1100" b="0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Time-consuming and potential unequal participation.</a:t>
                      </a:r>
                      <a:endParaRPr sz="1100" b="0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/>
                        <a:t>[</a:t>
                      </a:r>
                      <a:r>
                        <a:rPr lang="en-US" sz="1100" b="1" dirty="0"/>
                        <a:t>5</a:t>
                      </a:r>
                      <a:r>
                        <a:rPr lang="en-US" sz="1100" b="1" u="none" strike="noStrike" cap="none" dirty="0"/>
                        <a:t>]</a:t>
                      </a:r>
                      <a:endParaRPr sz="1100" b="1" u="none" strike="noStrike" cap="none" dirty="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Does Gamification Work? -- A Literature Review of Empirical Studies on Gamification</a:t>
                      </a:r>
                      <a:endParaRPr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/>
                        <a:t>2021 47th Hawaii International Conference on System Sciences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Analyzed various gamification studies' outcomes.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Detailed analysis of gamification's effects.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Unclear effectiveness of specific game elements.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/>
                        <a:t>[6]</a:t>
                      </a:r>
                      <a:endParaRPr sz="1100" b="1" u="none" strike="noStrike" cap="none" dirty="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Gamification of e-Learning in Higher Education: A Systematic Literature Review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Smart Learning Environments ,2023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Reviewed 39 studies on gamified e-learning.</a:t>
                      </a:r>
                      <a:endParaRPr sz="110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Insights into innovative gamification strategies.</a:t>
                      </a:r>
                      <a:endParaRPr sz="110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Lack of theoretical foundation in studies.</a:t>
                      </a:r>
                      <a:endParaRPr sz="1100" dirty="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7" name="Google Shape;1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>
            <a:spLocks noGrp="1"/>
          </p:cNvSpPr>
          <p:nvPr>
            <p:ph type="title"/>
          </p:nvPr>
        </p:nvSpPr>
        <p:spPr>
          <a:xfrm>
            <a:off x="430600" y="274651"/>
            <a:ext cx="8256000" cy="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b="1"/>
              <a:t>Literature Survey</a:t>
            </a:r>
            <a:endParaRPr/>
          </a:p>
        </p:txBody>
      </p:sp>
      <p:graphicFrame>
        <p:nvGraphicFramePr>
          <p:cNvPr id="174" name="Google Shape;174;p11"/>
          <p:cNvGraphicFramePr/>
          <p:nvPr>
            <p:extLst>
              <p:ext uri="{D42A27DB-BD31-4B8C-83A1-F6EECF244321}">
                <p14:modId xmlns:p14="http://schemas.microsoft.com/office/powerpoint/2010/main" val="2995119986"/>
              </p:ext>
            </p:extLst>
          </p:nvPr>
        </p:nvGraphicFramePr>
        <p:xfrm>
          <a:off x="529850" y="1327325"/>
          <a:ext cx="8256025" cy="4387175"/>
        </p:xfrm>
        <a:graphic>
          <a:graphicData uri="http://schemas.openxmlformats.org/drawingml/2006/table">
            <a:tbl>
              <a:tblPr>
                <a:noFill/>
                <a:tableStyleId>{7E07B212-973E-476A-A7B7-2E18D0955D34}</a:tableStyleId>
              </a:tblPr>
              <a:tblGrid>
                <a:gridCol w="46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Sno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Title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Journal/Conference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Methodologies/</a:t>
                      </a:r>
                      <a:endParaRPr sz="1100" b="1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/>
                        <a:t>A</a:t>
                      </a:r>
                      <a:r>
                        <a:rPr lang="en-US" sz="1100" b="1" u="none" strike="noStrike" cap="none"/>
                        <a:t>pproaches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Pros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Cons</a:t>
                      </a:r>
                      <a:endParaRPr sz="1100" b="1" u="none" strike="noStrike" cap="none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/>
                        <a:t>[7]</a:t>
                      </a:r>
                      <a:endParaRPr sz="1100" b="1" u="none" strike="noStrike" cap="none" dirty="0"/>
                    </a:p>
                  </a:txBody>
                  <a:tcPr marL="68575" marR="68575" marT="68575" marB="6857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The Effect of Challenge-Based Gamification on Learning</a:t>
                      </a:r>
                      <a:endParaRPr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International Journal of Human-Computer Studies Volume 144, December 2020, 10249</a:t>
                      </a:r>
                      <a:endParaRPr sz="1100" b="0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Compared gamified vs. non-gamified groups.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Empirical data on gamification's impact.</a:t>
                      </a:r>
                      <a:endParaRPr sz="1100" b="0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Focused on a specific subject area.</a:t>
                      </a:r>
                      <a:endParaRPr sz="1100" b="0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4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/>
                        <a:t>[</a:t>
                      </a:r>
                      <a:r>
                        <a:rPr lang="en-US" sz="1100" b="1" dirty="0"/>
                        <a:t>8</a:t>
                      </a:r>
                      <a:r>
                        <a:rPr lang="en-US" sz="1100" b="1" u="none" strike="noStrike" cap="none" dirty="0"/>
                        <a:t>]</a:t>
                      </a:r>
                      <a:endParaRPr sz="1100" b="1" u="none" strike="noStrike" cap="none" dirty="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Creating G-Class: A Gamified Learning Environment for Freshman Students</a:t>
                      </a:r>
                      <a:endParaRPr sz="110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E-Learning and Digital Media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2020, Vol. 17(2) 94–110</a:t>
                      </a:r>
                      <a:endParaRPr sz="11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Single group exposed to gamified material.</a:t>
                      </a:r>
                      <a:endParaRPr sz="1100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Detailed approach with structured evaluation.</a:t>
                      </a:r>
                      <a:endParaRPr sz="1100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/>
                        <a:t>Limited generalizability to other contexts.</a:t>
                      </a:r>
                      <a:endParaRPr sz="1100" u="none" strike="noStrike" cap="none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/>
                        <a:t>[9]</a:t>
                      </a:r>
                      <a:endParaRPr sz="1100" b="1" u="none" strike="noStrike" cap="none" dirty="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 Students' Approaches to Learning in a Gamified Course in Higher Education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2021 19th International Conference on Information Technology Based Higher Education and Training (ITHET)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Used gamification elements and student surveys.</a:t>
                      </a:r>
                      <a:endParaRPr sz="110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Comprehensive view of Gamification's impact.</a:t>
                      </a:r>
                      <a:endParaRPr sz="110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Self-reported data may introduce bias.</a:t>
                      </a:r>
                      <a:endParaRPr sz="1100" dirty="0"/>
                    </a:p>
                  </a:txBody>
                  <a:tcPr marL="68575" marR="68575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76" name="Google Shape;1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>
            <a:spLocks noGrp="1"/>
          </p:cNvSpPr>
          <p:nvPr>
            <p:ph type="title"/>
          </p:nvPr>
        </p:nvSpPr>
        <p:spPr>
          <a:xfrm>
            <a:off x="457200" y="4312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 dirty="0"/>
              <a:t>Overall architecture</a:t>
            </a:r>
            <a:br>
              <a:rPr lang="en-US" dirty="0"/>
            </a:br>
            <a:endParaRPr dirty="0"/>
          </a:p>
        </p:txBody>
      </p:sp>
      <p:sp>
        <p:nvSpPr>
          <p:cNvPr id="183" name="Google Shape;1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4" name="Google Shape;184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B24951-6405-6B98-1F47-91012FED9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31" y="1574213"/>
            <a:ext cx="8019737" cy="4210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5fb89fcf9_0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4296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 dirty="0"/>
              <a:t>Learning module with a pirate story</a:t>
            </a:r>
            <a:endParaRPr dirty="0"/>
          </a:p>
        </p:txBody>
      </p:sp>
      <p:sp>
        <p:nvSpPr>
          <p:cNvPr id="193" name="Google Shape;193;g2f5fb89fcf9_0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4" name="Google Shape;194;g2f5fb89fcf9_0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3A6D4-8E44-C1C1-8AFE-1689496A3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57" y="1189718"/>
            <a:ext cx="7961086" cy="50945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5fb89fcf9_0_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 dirty="0"/>
              <a:t>Evaluation module using Game</a:t>
            </a:r>
            <a:br>
              <a:rPr lang="en-US" b="1" dirty="0"/>
            </a:br>
            <a:endParaRPr dirty="0"/>
          </a:p>
        </p:txBody>
      </p:sp>
      <p:sp>
        <p:nvSpPr>
          <p:cNvPr id="203" name="Google Shape;203;g2f5fb89fcf9_0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4" name="Google Shape;204;g2f5fb89fcf9_0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2F78A7-8170-3E29-7BEE-B821013D1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2" y="1069746"/>
            <a:ext cx="8752115" cy="4522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EC3E25-5E54-C747-E10B-84A7D8ADE3CA}"/>
              </a:ext>
            </a:extLst>
          </p:cNvPr>
          <p:cNvSpPr txBox="1"/>
          <p:nvPr/>
        </p:nvSpPr>
        <p:spPr>
          <a:xfrm>
            <a:off x="4114800" y="578825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Game UI</a:t>
            </a:r>
            <a:endParaRPr lang="en-IN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72973-D2F9-6837-9937-8A17F4F8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657" y="6173791"/>
            <a:ext cx="5812971" cy="319085"/>
          </a:xfrm>
        </p:spPr>
        <p:txBody>
          <a:bodyPr>
            <a:noAutofit/>
          </a:bodyPr>
          <a:lstStyle/>
          <a:p>
            <a:r>
              <a:rPr lang="en-IN" sz="2000" b="1" dirty="0"/>
              <a:t>ML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F4510-593A-3F83-A2E6-C7B23BC741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EA7C49-DD78-7DE5-58F6-BDCC46ACC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14" y="136525"/>
            <a:ext cx="8606972" cy="58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18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 dirty="0"/>
              <a:t>Dataset Information</a:t>
            </a:r>
            <a:endParaRPr b="1" dirty="0"/>
          </a:p>
        </p:txBody>
      </p:sp>
      <p:sp>
        <p:nvSpPr>
          <p:cNvPr id="285" name="Google Shape;285;p22"/>
          <p:cNvSpPr txBox="1">
            <a:spLocks noGrp="1"/>
          </p:cNvSpPr>
          <p:nvPr>
            <p:ph type="body" idx="1"/>
          </p:nvPr>
        </p:nvSpPr>
        <p:spPr>
          <a:xfrm>
            <a:off x="457200" y="130991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 algn="just">
              <a:spcBef>
                <a:spcPts val="592"/>
              </a:spcBef>
              <a:buSzPct val="100000"/>
            </a:pPr>
            <a:r>
              <a:rPr lang="en-US" sz="2500" dirty="0"/>
              <a:t>We created the dataset specifically for 5th-grade students, focusing on key aspects such as question difficulty, and time taken to answer.</a:t>
            </a:r>
          </a:p>
          <a:p>
            <a:pPr indent="-457200" algn="just">
              <a:spcBef>
                <a:spcPts val="592"/>
              </a:spcBef>
              <a:buSzPct val="100000"/>
            </a:pPr>
            <a:r>
              <a:rPr lang="en-US" sz="2500" dirty="0"/>
              <a:t> This data helps model individual learning behaviors.</a:t>
            </a:r>
          </a:p>
          <a:p>
            <a:pPr indent="-457200" algn="just">
              <a:spcBef>
                <a:spcPts val="592"/>
              </a:spcBef>
              <a:buSzPct val="100000"/>
            </a:pPr>
            <a:r>
              <a:rPr lang="en-US" sz="2500" dirty="0"/>
              <a:t>Data was synthesized by carefully analyzing learning patterns to ensure a realistic learning experience. </a:t>
            </a:r>
          </a:p>
          <a:p>
            <a:pPr indent="-457200" algn="just">
              <a:spcBef>
                <a:spcPts val="592"/>
              </a:spcBef>
              <a:buSzPct val="100000"/>
            </a:pPr>
            <a:r>
              <a:rPr lang="en-US" sz="2500" dirty="0"/>
              <a:t>This allows us to effectively train and test our models.</a:t>
            </a:r>
          </a:p>
        </p:txBody>
      </p:sp>
      <p:sp>
        <p:nvSpPr>
          <p:cNvPr id="286" name="Google Shape;28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Details of data to be used</a:t>
            </a:r>
            <a:endParaRPr b="1"/>
          </a:p>
        </p:txBody>
      </p:sp>
      <p:sp>
        <p:nvSpPr>
          <p:cNvPr id="220" name="Google Shape;220;p14"/>
          <p:cNvSpPr txBox="1">
            <a:spLocks noGrp="1"/>
          </p:cNvSpPr>
          <p:nvPr>
            <p:ph type="body" idx="1"/>
          </p:nvPr>
        </p:nvSpPr>
        <p:spPr>
          <a:xfrm>
            <a:off x="457200" y="1344000"/>
            <a:ext cx="8229600" cy="5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188"/>
              <a:buNone/>
            </a:pPr>
            <a:r>
              <a:rPr lang="en-US" sz="10600" b="1" dirty="0"/>
              <a:t>1.Synthesized Dataset:</a:t>
            </a:r>
            <a:endParaRPr sz="10600" dirty="0"/>
          </a:p>
          <a:p>
            <a:pPr marL="0" lvl="0" indent="0" algn="l" rtl="0">
              <a:spcBef>
                <a:spcPts val="448"/>
              </a:spcBef>
              <a:spcAft>
                <a:spcPts val="0"/>
              </a:spcAft>
              <a:buNone/>
            </a:pPr>
            <a:r>
              <a:rPr lang="en-US" sz="8200" b="1" dirty="0"/>
              <a:t>Name of the Data</a:t>
            </a:r>
            <a:r>
              <a:rPr lang="en-US" sz="8200" dirty="0"/>
              <a:t>: Synthesized User Interaction Dataset</a:t>
            </a:r>
            <a:endParaRPr sz="8200" dirty="0"/>
          </a:p>
          <a:p>
            <a:pPr marL="0" lvl="0" indent="0" algn="l" rtl="0">
              <a:spcBef>
                <a:spcPts val="448"/>
              </a:spcBef>
              <a:spcAft>
                <a:spcPts val="0"/>
              </a:spcAft>
              <a:buNone/>
            </a:pPr>
            <a:r>
              <a:rPr lang="en-US" sz="8200" b="1" dirty="0"/>
              <a:t>Fields:</a:t>
            </a:r>
            <a:endParaRPr sz="8200" dirty="0"/>
          </a:p>
          <a:p>
            <a:pPr marL="742950" lvl="1" indent="-291465" algn="l" rtl="0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8200" b="1" dirty="0"/>
              <a:t>time taken</a:t>
            </a:r>
            <a:r>
              <a:rPr lang="en-US" sz="8200" dirty="0"/>
              <a:t>: The time taken by the user to answer a question. (Numeric)</a:t>
            </a:r>
            <a:endParaRPr sz="8200" dirty="0"/>
          </a:p>
          <a:p>
            <a:pPr marL="742950" lvl="1" indent="-291465" algn="l" rtl="0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8200" b="1" dirty="0"/>
              <a:t>operation performed</a:t>
            </a:r>
            <a:r>
              <a:rPr lang="en-US" sz="8200" dirty="0"/>
              <a:t>: The type of operation the user performed. (String)</a:t>
            </a:r>
            <a:endParaRPr sz="8200" dirty="0"/>
          </a:p>
          <a:p>
            <a:pPr marL="742950" lvl="1" indent="-291465" algn="l" rtl="0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8200" b="1" dirty="0"/>
              <a:t>difficulty</a:t>
            </a:r>
            <a:r>
              <a:rPr lang="en-US" sz="8200" dirty="0"/>
              <a:t>: The difficulty level of the question. (Categorical)</a:t>
            </a:r>
            <a:endParaRPr sz="8200" dirty="0"/>
          </a:p>
          <a:p>
            <a:pPr marL="742950" lvl="1" indent="-291465" algn="l" rtl="0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8200" b="1" dirty="0"/>
              <a:t>correct</a:t>
            </a:r>
            <a:r>
              <a:rPr lang="en-US" sz="8200" dirty="0"/>
              <a:t>: Indicates whether the user's answer was correct. (Boolean)</a:t>
            </a:r>
            <a:endParaRPr sz="8200" dirty="0"/>
          </a:p>
          <a:p>
            <a:pPr marL="0" lvl="0" indent="0" algn="l" rtl="0">
              <a:spcBef>
                <a:spcPts val="448"/>
              </a:spcBef>
              <a:spcAft>
                <a:spcPts val="0"/>
              </a:spcAft>
              <a:buNone/>
            </a:pPr>
            <a:r>
              <a:rPr lang="en-US" sz="8200" b="1" dirty="0"/>
              <a:t>Size</a:t>
            </a:r>
            <a:r>
              <a:rPr lang="en-US" sz="8200" dirty="0"/>
              <a:t>: 5 kB</a:t>
            </a:r>
            <a:endParaRPr sz="8200" dirty="0"/>
          </a:p>
          <a:p>
            <a:pPr marL="0" lvl="0" indent="0" algn="l" rtl="0">
              <a:spcBef>
                <a:spcPts val="448"/>
              </a:spcBef>
              <a:spcAft>
                <a:spcPts val="0"/>
              </a:spcAft>
              <a:buNone/>
            </a:pPr>
            <a:r>
              <a:rPr lang="en-US" sz="8200" b="1" dirty="0"/>
              <a:t>Purpose</a:t>
            </a:r>
            <a:r>
              <a:rPr lang="en-US" sz="8200" dirty="0"/>
              <a:t>:</a:t>
            </a:r>
            <a:endParaRPr sz="8200" dirty="0"/>
          </a:p>
          <a:p>
            <a:pPr marL="742950" lvl="1" indent="-291465" algn="l" rtl="0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8200" dirty="0"/>
              <a:t>To predict the difficulty of the user’s next question.</a:t>
            </a:r>
            <a:endParaRPr sz="8200" dirty="0"/>
          </a:p>
          <a:p>
            <a:pPr marL="742950" lvl="1" indent="-291465" algn="l" rtl="0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8200" dirty="0"/>
              <a:t>This dataset will be used to train the Linear model to adapt to the user's performance dynamically.</a:t>
            </a:r>
            <a:endParaRPr sz="8200" dirty="0"/>
          </a:p>
        </p:txBody>
      </p:sp>
      <p:sp>
        <p:nvSpPr>
          <p:cNvPr id="221" name="Google Shape;221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22" name="Google Shape;22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410028" y="1608136"/>
            <a:ext cx="8229600" cy="4747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45160" indent="-457200" algn="just">
              <a:spcBef>
                <a:spcPts val="592"/>
              </a:spcBef>
              <a:buSzPct val="100000"/>
            </a:pPr>
            <a:r>
              <a:rPr lang="en-US" sz="2500" dirty="0"/>
              <a:t>Our dataset includes both quantitative and qualitative features such as response accuracy, time spent per question</a:t>
            </a:r>
          </a:p>
          <a:p>
            <a:pPr marL="645160" indent="-457200" algn="just">
              <a:spcBef>
                <a:spcPts val="592"/>
              </a:spcBef>
              <a:buSzPct val="100000"/>
            </a:pPr>
            <a:r>
              <a:rPr lang="en-US" sz="2500" dirty="0"/>
              <a:t>Each data point is mapped to specific learning objectives, allowing the model to align predictions with expected outcomes. </a:t>
            </a:r>
          </a:p>
          <a:p>
            <a:pPr marL="645160" indent="-457200" algn="just">
              <a:spcBef>
                <a:spcPts val="592"/>
              </a:spcBef>
              <a:buSzPct val="100000"/>
            </a:pPr>
            <a:r>
              <a:rPr lang="en-US" sz="2500" dirty="0"/>
              <a:t>This helps in tracking whether students meet the learning goals.</a:t>
            </a:r>
            <a:endParaRPr sz="2500" dirty="0"/>
          </a:p>
        </p:txBody>
      </p:sp>
      <p:sp>
        <p:nvSpPr>
          <p:cNvPr id="294" name="Google Shape;29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B272A-2A7B-0605-2680-F3B1846B519E}"/>
              </a:ext>
            </a:extLst>
          </p:cNvPr>
          <p:cNvSpPr txBox="1"/>
          <p:nvPr/>
        </p:nvSpPr>
        <p:spPr>
          <a:xfrm>
            <a:off x="1429657" y="609415"/>
            <a:ext cx="61903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n-IN" sz="4400" b="1" dirty="0"/>
              <a:t> </a:t>
            </a:r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</a:t>
            </a:r>
            <a:endParaRPr lang="en-IN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99AD5-A78E-CA9C-7CAD-9DF65610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1C2E5-18C4-1EF8-9757-06A224841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</p:spPr>
        <p:txBody>
          <a:bodyPr>
            <a:noAutofit/>
          </a:bodyPr>
          <a:lstStyle/>
          <a:p>
            <a:r>
              <a:rPr lang="en-US" sz="2500" dirty="0"/>
              <a:t>This dataset is crucial for analyzing the gap between actual task difficulty and the model’s prediction, helping to improve the adaptive learning system.</a:t>
            </a:r>
          </a:p>
          <a:p>
            <a:r>
              <a:rPr lang="en-US" sz="2500" dirty="0"/>
              <a:t>The dataset allows us to assess how well the model performs across different operations, difficulty levels, and time spent on tasks.</a:t>
            </a:r>
          </a:p>
          <a:p>
            <a:r>
              <a:rPr lang="en-US" sz="2500" dirty="0"/>
              <a:t>By examining the </a:t>
            </a:r>
            <a:r>
              <a:rPr lang="en-US" sz="2500" b="1" dirty="0"/>
              <a:t>time taken and correctness</a:t>
            </a:r>
            <a:r>
              <a:rPr lang="en-US" sz="2500" dirty="0"/>
              <a:t>, the system can dynamically adjust the difficulty of future tasks to provide a personalized learning experience.</a:t>
            </a:r>
          </a:p>
          <a:p>
            <a:r>
              <a:rPr lang="en-US" sz="2500" dirty="0"/>
              <a:t>The dataset supports continuous improvement of the prediction model, ensuring that it becomes more accurate over time.</a:t>
            </a:r>
            <a:endParaRPr lang="en-IN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42204-F5E8-BFA8-3748-6CD3C518CC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97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28BD-9FB5-B67E-2E2D-3D805C7E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Visualization Plot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20EF3-D824-D6DA-9FD2-D572EF9B1C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57346A-1224-62EB-9B75-04FC5D726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46" y="1133359"/>
            <a:ext cx="8229601" cy="506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43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 dirty="0"/>
              <a:t>Model Metrics</a:t>
            </a:r>
            <a:endParaRPr b="1" dirty="0"/>
          </a:p>
        </p:txBody>
      </p:sp>
      <p:sp>
        <p:nvSpPr>
          <p:cNvPr id="301" name="Google Shape;301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700" b="1" dirty="0"/>
              <a:t>Linear Regression:</a:t>
            </a:r>
          </a:p>
          <a:p>
            <a:pPr indent="-457200" algn="just">
              <a:spcBef>
                <a:spcPts val="592"/>
              </a:spcBef>
              <a:buSzPct val="100000"/>
            </a:pPr>
            <a:r>
              <a:rPr lang="en-US" sz="2700" b="1" dirty="0"/>
              <a:t>Mean Squared Error (MSE) </a:t>
            </a:r>
            <a:r>
              <a:rPr lang="en-US" sz="2700" dirty="0"/>
              <a:t>is used to calculate the average of squared differences between predicted and actual values. This metric ensures that the model minimizes large prediction errors.</a:t>
            </a:r>
          </a:p>
          <a:p>
            <a:pPr indent="-457200" algn="just">
              <a:spcBef>
                <a:spcPts val="592"/>
              </a:spcBef>
              <a:buSzPct val="100000"/>
            </a:pPr>
            <a:r>
              <a:rPr lang="en-US" sz="2700" b="1" dirty="0"/>
              <a:t>R² Score </a:t>
            </a:r>
            <a:r>
              <a:rPr lang="en-US" sz="2700" dirty="0"/>
              <a:t>helps determine how well our model fits the data by showing the proportion of variance explained by the independent variables. A high R² score means the model accurately captures the student's difficulty.</a:t>
            </a:r>
          </a:p>
          <a:p>
            <a:pPr marL="0" lvl="0" indent="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700" b="1" dirty="0"/>
          </a:p>
        </p:txBody>
      </p:sp>
      <p:sp>
        <p:nvSpPr>
          <p:cNvPr id="302" name="Google Shape;30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 dirty="0"/>
              <a:t>Learning Component</a:t>
            </a:r>
            <a:endParaRPr b="1" dirty="0"/>
          </a:p>
        </p:txBody>
      </p:sp>
      <p:sp>
        <p:nvSpPr>
          <p:cNvPr id="301" name="Google Shape;301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 algn="just">
              <a:spcBef>
                <a:spcPts val="592"/>
              </a:spcBef>
              <a:buSzPct val="100000"/>
            </a:pPr>
            <a:r>
              <a:rPr lang="en-US" sz="2700" dirty="0"/>
              <a:t>The learning component is based on storytelling, where students progress by answering interleaved questions. Each question moves the characters closer to their goal, making the learning experience immersive and engaging.</a:t>
            </a:r>
          </a:p>
          <a:p>
            <a:pPr indent="-457200" algn="just">
              <a:spcBef>
                <a:spcPts val="592"/>
              </a:spcBef>
              <a:buSzPct val="100000"/>
            </a:pPr>
            <a:r>
              <a:rPr lang="en-US" sz="2700" dirty="0"/>
              <a:t>We use JavaScript animations to guide students through step-by-step explanations for each question. This visual aid helps break down complex concepts, making learning more accessible.</a:t>
            </a:r>
          </a:p>
          <a:p>
            <a:pPr indent="-457200" algn="just">
              <a:spcBef>
                <a:spcPts val="592"/>
              </a:spcBef>
              <a:buSzPct val="100000"/>
            </a:pPr>
            <a:r>
              <a:rPr lang="en-US" sz="2700" dirty="0"/>
              <a:t>The learning module is designed to adapt to the student’s progress, ensuring they receive the appropriate level of difficulty as they move forward. This allows for a personalized learning journey at their own pace.</a:t>
            </a:r>
            <a:endParaRPr sz="2700" dirty="0"/>
          </a:p>
        </p:txBody>
      </p:sp>
      <p:sp>
        <p:nvSpPr>
          <p:cNvPr id="302" name="Google Shape;30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1018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 dirty="0"/>
              <a:t>Evaluation Component</a:t>
            </a:r>
            <a:endParaRPr b="1" dirty="0"/>
          </a:p>
        </p:txBody>
      </p:sp>
      <p:sp>
        <p:nvSpPr>
          <p:cNvPr id="301" name="Google Shape;301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 algn="just">
              <a:spcBef>
                <a:spcPts val="592"/>
              </a:spcBef>
              <a:buSzPct val="100000"/>
            </a:pPr>
            <a:r>
              <a:rPr lang="en-US" sz="2700" dirty="0"/>
              <a:t>The evaluation component integrates into the Snake game, where students answer questions after catching food. This real-time assessment helps continuously monitor progress and adjust the game's difficulty.</a:t>
            </a:r>
          </a:p>
          <a:p>
            <a:pPr indent="-457200" algn="just">
              <a:spcBef>
                <a:spcPts val="592"/>
              </a:spcBef>
              <a:buSzPct val="100000"/>
            </a:pPr>
            <a:r>
              <a:rPr lang="en-US" sz="2700" dirty="0"/>
              <a:t>The evaluation adapts dynamically based on the student’s previous answers and performance, ensuring that they learn at their own pace. This personalized feedback loop improves learning outcomes.</a:t>
            </a:r>
          </a:p>
          <a:p>
            <a:pPr indent="-457200" algn="just">
              <a:spcBef>
                <a:spcPts val="592"/>
              </a:spcBef>
              <a:buSzPct val="100000"/>
            </a:pPr>
            <a:r>
              <a:rPr lang="en-US" sz="2700" dirty="0"/>
              <a:t>Reinforcement learning dynamically adjusts the game’s challenge level by selecting different configurations. This ensures that the game remains engaging and challenging, promoting learning through fun.</a:t>
            </a:r>
          </a:p>
          <a:p>
            <a:pPr indent="-457200" algn="just">
              <a:spcBef>
                <a:spcPts val="592"/>
              </a:spcBef>
              <a:buSzPct val="100000"/>
            </a:pPr>
            <a:endParaRPr lang="en-US" sz="2700" dirty="0"/>
          </a:p>
          <a:p>
            <a:pPr indent="-457200" algn="just">
              <a:spcBef>
                <a:spcPts val="592"/>
              </a:spcBef>
              <a:buSzPct val="100000"/>
            </a:pPr>
            <a:endParaRPr lang="en-US" sz="2700" dirty="0"/>
          </a:p>
          <a:p>
            <a:pPr indent="-457200" algn="just">
              <a:spcBef>
                <a:spcPts val="592"/>
              </a:spcBef>
              <a:buSzPct val="100000"/>
            </a:pPr>
            <a:endParaRPr lang="en-US" sz="2700" dirty="0"/>
          </a:p>
          <a:p>
            <a:pPr indent="-457200" algn="just">
              <a:spcBef>
                <a:spcPts val="592"/>
              </a:spcBef>
              <a:buSzPct val="100000"/>
            </a:pPr>
            <a:endParaRPr lang="en-US" sz="2700" dirty="0"/>
          </a:p>
          <a:p>
            <a:pPr indent="-457200" algn="just">
              <a:spcBef>
                <a:spcPts val="592"/>
              </a:spcBef>
              <a:buSzPct val="100000"/>
            </a:pPr>
            <a:endParaRPr lang="en-US" sz="2700" dirty="0"/>
          </a:p>
          <a:p>
            <a:pPr indent="-457200" algn="just">
              <a:spcBef>
                <a:spcPts val="592"/>
              </a:spcBef>
              <a:buSzPct val="100000"/>
            </a:pPr>
            <a:endParaRPr sz="2700" dirty="0"/>
          </a:p>
        </p:txBody>
      </p:sp>
      <p:sp>
        <p:nvSpPr>
          <p:cNvPr id="302" name="Google Shape;30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90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"/>
          <p:cNvSpPr txBox="1">
            <a:spLocks noGrp="1"/>
          </p:cNvSpPr>
          <p:nvPr>
            <p:ph type="title"/>
          </p:nvPr>
        </p:nvSpPr>
        <p:spPr>
          <a:xfrm>
            <a:off x="628650" y="770969"/>
            <a:ext cx="7886700" cy="8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References </a:t>
            </a:r>
            <a:endParaRPr b="1"/>
          </a:p>
        </p:txBody>
      </p:sp>
      <p:sp>
        <p:nvSpPr>
          <p:cNvPr id="317" name="Google Shape;317;p26"/>
          <p:cNvSpPr txBox="1">
            <a:spLocks noGrp="1"/>
          </p:cNvSpPr>
          <p:nvPr>
            <p:ph type="body" idx="1"/>
          </p:nvPr>
        </p:nvSpPr>
        <p:spPr>
          <a:xfrm>
            <a:off x="628650" y="1993726"/>
            <a:ext cx="7886700" cy="41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200" b="1" dirty="0"/>
              <a:t>[1]</a:t>
            </a:r>
            <a:r>
              <a:rPr lang="en-US" sz="2200" dirty="0"/>
              <a:t> Nah, F., </a:t>
            </a:r>
            <a:r>
              <a:rPr lang="en-US" sz="2200" dirty="0" err="1"/>
              <a:t>Telaprolu</a:t>
            </a:r>
            <a:r>
              <a:rPr lang="en-US" sz="2200" dirty="0"/>
              <a:t>, V., </a:t>
            </a:r>
            <a:r>
              <a:rPr lang="en-US" sz="2200" dirty="0" err="1"/>
              <a:t>Rallapalli</a:t>
            </a:r>
            <a:r>
              <a:rPr lang="en-US" sz="2200" dirty="0"/>
              <a:t>, S., Venkata, P.: Gamification of Education using Computer Games. In: Yamamoto, S. (ed.) HCI 2013, Part III. LNCS, vol. 8018, pp. 99–107. Springer, Heidelberg (2021) </a:t>
            </a:r>
            <a:endParaRPr sz="22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200" b="1" dirty="0"/>
              <a:t>[2]</a:t>
            </a:r>
            <a:r>
              <a:rPr lang="en-US" sz="2200" dirty="0"/>
              <a:t> </a:t>
            </a:r>
            <a:r>
              <a:rPr lang="en-US" sz="2200" dirty="0" err="1"/>
              <a:t>Eschenbrenner</a:t>
            </a:r>
            <a:r>
              <a:rPr lang="en-US" sz="2200" dirty="0"/>
              <a:t>, B., Nah, F., </a:t>
            </a:r>
            <a:r>
              <a:rPr lang="en-US" sz="2200" dirty="0" err="1"/>
              <a:t>Siau</a:t>
            </a:r>
            <a:r>
              <a:rPr lang="en-US" sz="2200" dirty="0"/>
              <a:t>, K.: 3-D Virtual Worlds in Education: Applications, Benefits, Issues, and Opportunities. Journal of Database Management 19(4), 91–110 (2023)</a:t>
            </a:r>
            <a:endParaRPr sz="22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dirty="0"/>
              <a:t>[3]</a:t>
            </a:r>
            <a:r>
              <a:rPr lang="en-US" sz="2200" dirty="0"/>
              <a:t> P. Buckley and E. Doyle, "Gamification and student motivation", Interactive Learning Environments, vol. 22, no. 6, pp. 1-14, (2020).</a:t>
            </a:r>
            <a:endParaRPr sz="22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600" dirty="0"/>
          </a:p>
        </p:txBody>
      </p:sp>
      <p:sp>
        <p:nvSpPr>
          <p:cNvPr id="318" name="Google Shape;31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 of IST,CEG ,Anna University</a:t>
            </a:r>
            <a:endParaRPr/>
          </a:p>
        </p:txBody>
      </p:sp>
      <p:sp>
        <p:nvSpPr>
          <p:cNvPr id="319" name="Google Shape;31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"/>
          <p:cNvSpPr txBox="1">
            <a:spLocks noGrp="1"/>
          </p:cNvSpPr>
          <p:nvPr>
            <p:ph type="title"/>
          </p:nvPr>
        </p:nvSpPr>
        <p:spPr>
          <a:xfrm>
            <a:off x="762000" y="2743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THANK YOU</a:t>
            </a:r>
            <a:endParaRPr b="1"/>
          </a:p>
        </p:txBody>
      </p:sp>
      <p:sp>
        <p:nvSpPr>
          <p:cNvPr id="325" name="Google Shape;325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1631</Words>
  <Application>Microsoft Office PowerPoint</Application>
  <PresentationFormat>On-screen Show (4:3)</PresentationFormat>
  <Paragraphs>202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Gamified Learning : Learn With Engagement</vt:lpstr>
      <vt:lpstr>Introduction</vt:lpstr>
      <vt:lpstr>Introduction</vt:lpstr>
      <vt:lpstr>Problem Statement</vt:lpstr>
      <vt:lpstr>Literature Survey</vt:lpstr>
      <vt:lpstr>Literature Survey</vt:lpstr>
      <vt:lpstr>Literature Survey</vt:lpstr>
      <vt:lpstr>Overall architecture </vt:lpstr>
      <vt:lpstr>Learning module with a pirate story</vt:lpstr>
      <vt:lpstr>Evaluation module using Game </vt:lpstr>
      <vt:lpstr>ML Model</vt:lpstr>
      <vt:lpstr>Dataset Information</vt:lpstr>
      <vt:lpstr>Details of data to be used</vt:lpstr>
      <vt:lpstr>PowerPoint Presentation</vt:lpstr>
      <vt:lpstr>Dataset Description</vt:lpstr>
      <vt:lpstr>Visualization Plot</vt:lpstr>
      <vt:lpstr>Model Metrics</vt:lpstr>
      <vt:lpstr>Learning Component</vt:lpstr>
      <vt:lpstr>Evaluation Component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shane</dc:creator>
  <cp:lastModifiedBy>Jay Ram</cp:lastModifiedBy>
  <cp:revision>3</cp:revision>
  <dcterms:created xsi:type="dcterms:W3CDTF">2019-07-22T12:39:23Z</dcterms:created>
  <dcterms:modified xsi:type="dcterms:W3CDTF">2024-09-18T05:57:18Z</dcterms:modified>
</cp:coreProperties>
</file>